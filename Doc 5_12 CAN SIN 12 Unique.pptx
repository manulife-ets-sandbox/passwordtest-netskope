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572E06F-B73A-4263-873B-0D5C6C3F1FBA}" type="datetimeFigureOut">
              <a:rPr lang="en-US" smtClean="0"/>
              <a:t>3/8/2018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526523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72E06F-B73A-4263-873B-0D5C6C3F1FBA}" type="datetimeFigureOut">
              <a:rPr lang="en-US" smtClean="0"/>
              <a:t>3/8/2018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26051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72E06F-B73A-4263-873B-0D5C6C3F1FBA}" type="datetimeFigureOut">
              <a:rPr lang="en-US" smtClean="0"/>
              <a:t>3/8/2018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2471691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572E06F-B73A-4263-873B-0D5C6C3F1FBA}" type="datetimeFigureOut">
              <a:rPr lang="en-US" smtClean="0"/>
              <a:t>3/8/2018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2504343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572E06F-B73A-4263-873B-0D5C6C3F1FBA}" type="datetimeFigureOut">
              <a:rPr lang="en-US" smtClean="0"/>
              <a:t>3/8/2018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50023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572E06F-B73A-4263-873B-0D5C6C3F1FBA}" type="datetimeFigureOut">
              <a:rPr lang="en-US" smtClean="0"/>
              <a:t>3/8/2018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4176330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72E06F-B73A-4263-873B-0D5C6C3F1FBA}" type="datetimeFigureOut">
              <a:rPr lang="en-US" smtClean="0"/>
              <a:t>3/8/2018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1619678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72E06F-B73A-4263-873B-0D5C6C3F1FBA}" type="datetimeFigureOut">
              <a:rPr lang="en-US" smtClean="0"/>
              <a:t>3/8/2018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41649265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72E06F-B73A-4263-873B-0D5C6C3F1FBA}" type="datetimeFigureOut">
              <a:rPr lang="en-US" smtClean="0"/>
              <a:t>3/8/2018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3257129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72E06F-B73A-4263-873B-0D5C6C3F1FBA}" type="datetimeFigureOut">
              <a:rPr lang="en-US" smtClean="0"/>
              <a:t>3/8/2018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2313027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572E06F-B73A-4263-873B-0D5C6C3F1FBA}" type="datetimeFigureOut">
              <a:rPr lang="en-US" smtClean="0"/>
              <a:t>3/8/2018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072313-E64B-4A6D-8082-6CF04021C9BC}" type="slidenum">
              <a:rPr lang="en-US" smtClean="0"/>
              <a:t>‹#›</a:t>
            </a:fld>
            <a:endParaRPr lang="en-US"/>
          </a:p>
        </p:txBody>
      </p:sp>
    </p:spTree>
    <p:extLst>
      <p:ext uri="{BB962C8B-B14F-4D97-AF65-F5344CB8AC3E}">
        <p14:creationId xmlns:p14="http://schemas.microsoft.com/office/powerpoint/2010/main" val="1113756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72E06F-B73A-4263-873B-0D5C6C3F1FBA}" type="datetimeFigureOut">
              <a:rPr lang="en-US" smtClean="0"/>
              <a:t>3/8/2018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072313-E64B-4A6D-8082-6CF04021C9BC}" type="slidenum">
              <a:rPr lang="en-US" smtClean="0"/>
              <a:t>‹#›</a:t>
            </a:fld>
            <a:endParaRPr lang="en-US"/>
          </a:p>
        </p:txBody>
      </p:sp>
    </p:spTree>
    <p:extLst>
      <p:ext uri="{BB962C8B-B14F-4D97-AF65-F5344CB8AC3E}">
        <p14:creationId xmlns:p14="http://schemas.microsoft.com/office/powerpoint/2010/main" val="2061070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63454785"/>
              </p:ext>
            </p:extLst>
          </p:nvPr>
        </p:nvGraphicFramePr>
        <p:xfrm>
          <a:off x="990600" y="685800"/>
          <a:ext cx="7162802" cy="3441196"/>
        </p:xfrm>
        <a:graphic>
          <a:graphicData uri="http://schemas.openxmlformats.org/drawingml/2006/table">
            <a:tbl>
              <a:tblPr>
                <a:tableStyleId>{5C22544A-7EE6-4342-B048-85BDC9FD1C3A}</a:tableStyleId>
              </a:tblPr>
              <a:tblGrid>
                <a:gridCol w="319133">
                  <a:extLst>
                    <a:ext uri="{9D8B030D-6E8A-4147-A177-3AD203B41FA5}">
                      <a16:colId xmlns:a16="http://schemas.microsoft.com/office/drawing/2014/main" val="20000"/>
                    </a:ext>
                  </a:extLst>
                </a:gridCol>
                <a:gridCol w="679185">
                  <a:extLst>
                    <a:ext uri="{9D8B030D-6E8A-4147-A177-3AD203B41FA5}">
                      <a16:colId xmlns:a16="http://schemas.microsoft.com/office/drawing/2014/main" val="20001"/>
                    </a:ext>
                  </a:extLst>
                </a:gridCol>
                <a:gridCol w="741920">
                  <a:extLst>
                    <a:ext uri="{9D8B030D-6E8A-4147-A177-3AD203B41FA5}">
                      <a16:colId xmlns:a16="http://schemas.microsoft.com/office/drawing/2014/main" val="20002"/>
                    </a:ext>
                  </a:extLst>
                </a:gridCol>
                <a:gridCol w="2149385">
                  <a:extLst>
                    <a:ext uri="{9D8B030D-6E8A-4147-A177-3AD203B41FA5}">
                      <a16:colId xmlns:a16="http://schemas.microsoft.com/office/drawing/2014/main" val="20003"/>
                    </a:ext>
                  </a:extLst>
                </a:gridCol>
                <a:gridCol w="458246">
                  <a:extLst>
                    <a:ext uri="{9D8B030D-6E8A-4147-A177-3AD203B41FA5}">
                      <a16:colId xmlns:a16="http://schemas.microsoft.com/office/drawing/2014/main" val="20004"/>
                    </a:ext>
                  </a:extLst>
                </a:gridCol>
                <a:gridCol w="731010">
                  <a:extLst>
                    <a:ext uri="{9D8B030D-6E8A-4147-A177-3AD203B41FA5}">
                      <a16:colId xmlns:a16="http://schemas.microsoft.com/office/drawing/2014/main" val="20005"/>
                    </a:ext>
                  </a:extLst>
                </a:gridCol>
                <a:gridCol w="589172">
                  <a:extLst>
                    <a:ext uri="{9D8B030D-6E8A-4147-A177-3AD203B41FA5}">
                      <a16:colId xmlns:a16="http://schemas.microsoft.com/office/drawing/2014/main" val="20006"/>
                    </a:ext>
                  </a:extLst>
                </a:gridCol>
                <a:gridCol w="1494751">
                  <a:extLst>
                    <a:ext uri="{9D8B030D-6E8A-4147-A177-3AD203B41FA5}">
                      <a16:colId xmlns:a16="http://schemas.microsoft.com/office/drawing/2014/main" val="20007"/>
                    </a:ext>
                  </a:extLst>
                </a:gridCol>
              </a:tblGrid>
              <a:tr h="441517">
                <a:tc>
                  <a:txBody>
                    <a:bodyPr/>
                    <a:lstStyle/>
                    <a:p>
                      <a:pPr algn="r" fontAlgn="b"/>
                      <a:r>
                        <a:rPr lang="en-US" sz="1100" u="none" strike="noStrike">
                          <a:effectLst/>
                        </a:rPr>
                        <a:t>1</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Karen</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Ellis</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kellis0@seesaa.net</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Female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246 011 290</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sin</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driver's license</a:t>
                      </a:r>
                      <a:endParaRPr lang="en-US" sz="1100" b="0" i="0" u="none" strike="noStrike">
                        <a:effectLst/>
                        <a:latin typeface="Arial"/>
                      </a:endParaRPr>
                    </a:p>
                  </a:txBody>
                  <a:tcPr marL="9409" marR="9409" marT="9409" marB="0" anchor="b"/>
                </a:tc>
                <a:extLst>
                  <a:ext uri="{0D108BD9-81ED-4DB2-BD59-A6C34878D82A}">
                    <a16:rowId xmlns:a16="http://schemas.microsoft.com/office/drawing/2014/main" val="10000"/>
                  </a:ext>
                </a:extLst>
              </a:tr>
              <a:tr h="851306">
                <a:tc>
                  <a:txBody>
                    <a:bodyPr/>
                    <a:lstStyle/>
                    <a:p>
                      <a:pPr algn="r" fontAlgn="b"/>
                      <a:r>
                        <a:rPr lang="en-US" sz="1100" u="none" strike="noStrike">
                          <a:effectLst/>
                        </a:rPr>
                        <a:t>2</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Keith</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Hudson</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khudson1@wix.com</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250 684 222</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social insurance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drivers license</a:t>
                      </a:r>
                      <a:endParaRPr lang="en-US" sz="1100" b="0" i="0" u="none" strike="noStrike">
                        <a:effectLst/>
                        <a:latin typeface="Arial"/>
                      </a:endParaRPr>
                    </a:p>
                  </a:txBody>
                  <a:tcPr marL="9409" marR="9409" marT="9409" marB="0" anchor="b"/>
                </a:tc>
                <a:extLst>
                  <a:ext uri="{0D108BD9-81ED-4DB2-BD59-A6C34878D82A}">
                    <a16:rowId xmlns:a16="http://schemas.microsoft.com/office/drawing/2014/main" val="10001"/>
                  </a:ext>
                </a:extLst>
              </a:tr>
              <a:tr h="1265339">
                <a:tc>
                  <a:txBody>
                    <a:bodyPr/>
                    <a:lstStyle/>
                    <a:p>
                      <a:pPr algn="r" fontAlgn="b"/>
                      <a:r>
                        <a:rPr lang="en-US" sz="1100" u="none" strike="noStrike">
                          <a:effectLst/>
                        </a:rPr>
                        <a:t>3</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Marie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Ward</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mward2@feedburner.com</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Female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578 652 562</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numero d'assurance sociale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driver's licence</a:t>
                      </a:r>
                      <a:endParaRPr lang="en-US" sz="1100" b="0" i="0" u="none" strike="noStrike">
                        <a:effectLst/>
                        <a:latin typeface="Arial"/>
                      </a:endParaRPr>
                    </a:p>
                  </a:txBody>
                  <a:tcPr marL="9409" marR="9409" marT="9409" marB="0" anchor="b"/>
                </a:tc>
                <a:extLst>
                  <a:ext uri="{0D108BD9-81ED-4DB2-BD59-A6C34878D82A}">
                    <a16:rowId xmlns:a16="http://schemas.microsoft.com/office/drawing/2014/main" val="10002"/>
                  </a:ext>
                </a:extLst>
              </a:tr>
              <a:tr h="441517">
                <a:tc>
                  <a:txBody>
                    <a:bodyPr/>
                    <a:lstStyle/>
                    <a:p>
                      <a:pPr algn="r" fontAlgn="b"/>
                      <a:r>
                        <a:rPr lang="en-US" sz="1100" u="none" strike="noStrike">
                          <a:effectLst/>
                        </a:rPr>
                        <a:t>4</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Alan</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Stevens</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astevens3@slashdot.org</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974 287 807</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sins</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drivers licence</a:t>
                      </a:r>
                      <a:endParaRPr lang="en-US" sz="1100" b="0" i="0" u="none" strike="noStrike">
                        <a:effectLst/>
                        <a:latin typeface="Arial"/>
                      </a:endParaRPr>
                    </a:p>
                  </a:txBody>
                  <a:tcPr marL="9409" marR="9409" marT="9409" marB="0" anchor="b"/>
                </a:tc>
                <a:extLst>
                  <a:ext uri="{0D108BD9-81ED-4DB2-BD59-A6C34878D82A}">
                    <a16:rowId xmlns:a16="http://schemas.microsoft.com/office/drawing/2014/main" val="10003"/>
                  </a:ext>
                </a:extLst>
              </a:tr>
              <a:tr h="441517">
                <a:tc>
                  <a:txBody>
                    <a:bodyPr/>
                    <a:lstStyle/>
                    <a:p>
                      <a:pPr algn="r" fontAlgn="b"/>
                      <a:r>
                        <a:rPr lang="en-US" sz="1100" u="none" strike="noStrike">
                          <a:effectLst/>
                        </a:rPr>
                        <a:t>5</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Lisa</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Hill</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lhill4@altervista.org</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Female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579 089 475</a:t>
                      </a:r>
                      <a:endParaRPr lang="en-US" sz="1100" b="0" i="0" u="none" strike="noStrike">
                        <a:effectLst/>
                        <a:latin typeface="Arial"/>
                      </a:endParaRPr>
                    </a:p>
                  </a:txBody>
                  <a:tcPr marL="9409" marR="9409" marT="9409" marB="0" anchor="b"/>
                </a:tc>
                <a:tc>
                  <a:txBody>
                    <a:bodyPr/>
                    <a:lstStyle/>
                    <a:p>
                      <a:pPr algn="l" fontAlgn="b"/>
                      <a:r>
                        <a:rPr lang="en-US" sz="1100" u="none" strike="noStrike" dirty="0">
                          <a:effectLst/>
                        </a:rPr>
                        <a:t>sin</a:t>
                      </a:r>
                      <a:endParaRPr lang="en-US" sz="1100" b="0" i="0" u="none" strike="noStrike" dirty="0">
                        <a:effectLst/>
                        <a:latin typeface="Arial"/>
                      </a:endParaRPr>
                    </a:p>
                  </a:txBody>
                  <a:tcPr marL="9409" marR="9409" marT="9409" marB="0" anchor="b"/>
                </a:tc>
                <a:tc>
                  <a:txBody>
                    <a:bodyPr/>
                    <a:lstStyle/>
                    <a:p>
                      <a:pPr algn="l" fontAlgn="b"/>
                      <a:r>
                        <a:rPr lang="en-US" sz="1100" u="none" strike="noStrike" dirty="0">
                          <a:effectLst/>
                        </a:rPr>
                        <a:t>DOB</a:t>
                      </a:r>
                      <a:endParaRPr lang="en-US" sz="1100" b="0" i="0" u="none" strike="noStrike" dirty="0">
                        <a:effectLst/>
                        <a:latin typeface="Arial"/>
                      </a:endParaRPr>
                    </a:p>
                  </a:txBody>
                  <a:tcPr marL="9409" marR="9409" marT="9409" marB="0" anchor="b"/>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2987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32500" lnSpcReduction="20000"/>
          </a:bodyPr>
          <a:lstStyle/>
          <a:p>
            <a:pPr fontAlgn="base"/>
            <a:r>
              <a:rPr lang="en-US" b="1" dirty="0"/>
              <a:t>How to Protect a Smart Identity Card</a:t>
            </a:r>
          </a:p>
          <a:p>
            <a:pPr fontAlgn="base"/>
            <a:r>
              <a:rPr lang="en-US" dirty="0"/>
              <a:t>While enjoying the benefits of its advanced technology, holders of a Smart Identity Card should remember that the smart identity card is an important identification document. Although the card is made of a very durable and secure base material, the holder needs to protect it properly against damage. The following guidelines will help in keeping the card in good condition at all times:</a:t>
            </a:r>
          </a:p>
          <a:p>
            <a:pPr fontAlgn="base"/>
            <a:r>
              <a:rPr lang="en-US" dirty="0"/>
              <a:t>Keep the card in an appropriate protective holder</a:t>
            </a:r>
          </a:p>
          <a:p>
            <a:pPr fontAlgn="base"/>
            <a:r>
              <a:rPr lang="en-US" dirty="0"/>
              <a:t>Do not bend the card or test it with a magnet</a:t>
            </a:r>
          </a:p>
          <a:p>
            <a:pPr fontAlgn="base"/>
            <a:r>
              <a:rPr lang="en-US" dirty="0"/>
              <a:t>Do not place the card together with keys or coins</a:t>
            </a:r>
          </a:p>
          <a:p>
            <a:pPr fontAlgn="base"/>
            <a:r>
              <a:rPr lang="en-US" dirty="0"/>
              <a:t>Avoid scratching the chip when using the e-Cert in the card</a:t>
            </a:r>
          </a:p>
          <a:p>
            <a:pPr fontAlgn="base"/>
            <a:r>
              <a:rPr lang="en-US" dirty="0"/>
              <a:t>Do not try to remove the chip from the card</a:t>
            </a:r>
          </a:p>
          <a:p>
            <a:pPr fontAlgn="base"/>
            <a:r>
              <a:rPr lang="en-US" b="1" dirty="0"/>
              <a:t>Obligations</a:t>
            </a:r>
          </a:p>
          <a:p>
            <a:pPr fontAlgn="base"/>
            <a:r>
              <a:rPr lang="en-US" dirty="0"/>
              <a:t>Smart identity card holders are obliged to keep their cards in proper condition and carry them at all times. If the card is lost, destroyed, damaged or defaced, the holder must apply for a new card at a Registration of Persons Office within 14 days, or within 14 days of his/her return if he/she is outside Hong Kong. Recovered cards must be surrendered to a Registration of Persons Office or police station.</a:t>
            </a:r>
          </a:p>
          <a:p>
            <a:pPr fontAlgn="base"/>
            <a:r>
              <a:rPr lang="en-US" b="1" dirty="0"/>
              <a:t>Personal Data Protection</a:t>
            </a:r>
          </a:p>
          <a:p>
            <a:pPr fontAlgn="base"/>
            <a:r>
              <a:rPr lang="en-US" dirty="0"/>
              <a:t>Personal data on the smart identity card are fully protected by the following measures:</a:t>
            </a:r>
          </a:p>
          <a:p>
            <a:pPr fontAlgn="base"/>
            <a:r>
              <a:rPr lang="en-US" dirty="0"/>
              <a:t>The collection, storage, use and release of data are governed by the Personal Data (Privacy) Ordinance, Registration of Persons Ordinance and Registration of Persons Regulations.</a:t>
            </a:r>
          </a:p>
          <a:p>
            <a:pPr fontAlgn="base"/>
            <a:r>
              <a:rPr lang="en-US" dirty="0"/>
              <a:t>Only </a:t>
            </a:r>
            <a:r>
              <a:rPr lang="en-US" dirty="0" err="1"/>
              <a:t>authorised</a:t>
            </a:r>
            <a:r>
              <a:rPr lang="en-US" dirty="0"/>
              <a:t> departments have access to the relevant database, and there is no sharing of databases among government departments.</a:t>
            </a:r>
          </a:p>
          <a:p>
            <a:pPr fontAlgn="base"/>
            <a:r>
              <a:rPr lang="en-US" dirty="0"/>
              <a:t>Privacy Impact Assessments are conducted periodically.</a:t>
            </a:r>
          </a:p>
          <a:p>
            <a:pPr fontAlgn="base"/>
            <a:r>
              <a:rPr lang="en-US" dirty="0"/>
              <a:t>Holders can view the data on their cards through smart identity card readers installed at immigration self-service kiosks after their identities have been authenticated.</a:t>
            </a:r>
          </a:p>
          <a:p>
            <a:pPr fontAlgn="base"/>
            <a:r>
              <a:rPr lang="en-US" dirty="0"/>
              <a:t>Only minimal data are stored in the chip. More sensitive data are kept in back-end computer systems. All non-immigration applications of the smart identity card are voluntary options.</a:t>
            </a:r>
          </a:p>
          <a:p>
            <a:pPr fontAlgn="base"/>
            <a:r>
              <a:rPr lang="en-US" dirty="0"/>
              <a:t>Data for different applications are segregated. The chip is designed with segregated compartments to separate immigration applications from other value-added non-immigration functions.</a:t>
            </a:r>
          </a:p>
          <a:p>
            <a:pPr fontAlgn="base"/>
            <a:r>
              <a:rPr lang="en-US" b="1" dirty="0"/>
              <a:t>Frequently Asked Questions</a:t>
            </a:r>
          </a:p>
          <a:p>
            <a:pPr fontAlgn="base"/>
            <a:r>
              <a:rPr lang="en-US" dirty="0"/>
              <a:t>A list of frequently asked questions about the smart identity card is available through the following link.</a:t>
            </a:r>
          </a:p>
          <a:p>
            <a:endParaRPr lang="en-US" dirty="0"/>
          </a:p>
        </p:txBody>
      </p:sp>
    </p:spTree>
    <p:extLst>
      <p:ext uri="{BB962C8B-B14F-4D97-AF65-F5344CB8AC3E}">
        <p14:creationId xmlns:p14="http://schemas.microsoft.com/office/powerpoint/2010/main" val="519020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212065882"/>
              </p:ext>
            </p:extLst>
          </p:nvPr>
        </p:nvGraphicFramePr>
        <p:xfrm>
          <a:off x="457200" y="1523999"/>
          <a:ext cx="8229600" cy="2905661"/>
        </p:xfrm>
        <a:graphic>
          <a:graphicData uri="http://schemas.openxmlformats.org/drawingml/2006/table">
            <a:tbl>
              <a:tblPr>
                <a:tableStyleId>{5C22544A-7EE6-4342-B048-85BDC9FD1C3A}</a:tableStyleId>
              </a:tblPr>
              <a:tblGrid>
                <a:gridCol w="366665">
                  <a:extLst>
                    <a:ext uri="{9D8B030D-6E8A-4147-A177-3AD203B41FA5}">
                      <a16:colId xmlns:a16="http://schemas.microsoft.com/office/drawing/2014/main" val="20000"/>
                    </a:ext>
                  </a:extLst>
                </a:gridCol>
                <a:gridCol w="780339">
                  <a:extLst>
                    <a:ext uri="{9D8B030D-6E8A-4147-A177-3AD203B41FA5}">
                      <a16:colId xmlns:a16="http://schemas.microsoft.com/office/drawing/2014/main" val="20001"/>
                    </a:ext>
                  </a:extLst>
                </a:gridCol>
                <a:gridCol w="852418">
                  <a:extLst>
                    <a:ext uri="{9D8B030D-6E8A-4147-A177-3AD203B41FA5}">
                      <a16:colId xmlns:a16="http://schemas.microsoft.com/office/drawing/2014/main" val="20002"/>
                    </a:ext>
                  </a:extLst>
                </a:gridCol>
                <a:gridCol w="2469507">
                  <a:extLst>
                    <a:ext uri="{9D8B030D-6E8A-4147-A177-3AD203B41FA5}">
                      <a16:colId xmlns:a16="http://schemas.microsoft.com/office/drawing/2014/main" val="20003"/>
                    </a:ext>
                  </a:extLst>
                </a:gridCol>
                <a:gridCol w="526494">
                  <a:extLst>
                    <a:ext uri="{9D8B030D-6E8A-4147-A177-3AD203B41FA5}">
                      <a16:colId xmlns:a16="http://schemas.microsoft.com/office/drawing/2014/main" val="20004"/>
                    </a:ext>
                  </a:extLst>
                </a:gridCol>
                <a:gridCol w="839883">
                  <a:extLst>
                    <a:ext uri="{9D8B030D-6E8A-4147-A177-3AD203B41FA5}">
                      <a16:colId xmlns:a16="http://schemas.microsoft.com/office/drawing/2014/main" val="20005"/>
                    </a:ext>
                  </a:extLst>
                </a:gridCol>
                <a:gridCol w="676921">
                  <a:extLst>
                    <a:ext uri="{9D8B030D-6E8A-4147-A177-3AD203B41FA5}">
                      <a16:colId xmlns:a16="http://schemas.microsoft.com/office/drawing/2014/main" val="20006"/>
                    </a:ext>
                  </a:extLst>
                </a:gridCol>
                <a:gridCol w="1717373">
                  <a:extLst>
                    <a:ext uri="{9D8B030D-6E8A-4147-A177-3AD203B41FA5}">
                      <a16:colId xmlns:a16="http://schemas.microsoft.com/office/drawing/2014/main" val="20007"/>
                    </a:ext>
                  </a:extLst>
                </a:gridCol>
              </a:tblGrid>
              <a:tr h="522986">
                <a:tc>
                  <a:txBody>
                    <a:bodyPr/>
                    <a:lstStyle/>
                    <a:p>
                      <a:pPr algn="r" fontAlgn="b"/>
                      <a:r>
                        <a:rPr lang="en-US" sz="1100" u="none" strike="noStrike">
                          <a:effectLst/>
                        </a:rPr>
                        <a:t>14</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Stephanie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Robinson</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srobinsond@homestead.com</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Female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116 033 176</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driver's license</a:t>
                      </a:r>
                      <a:endParaRPr lang="en-US" sz="1100" b="0" i="0" u="none" strike="noStrike">
                        <a:effectLst/>
                        <a:latin typeface="Arial"/>
                      </a:endParaRPr>
                    </a:p>
                  </a:txBody>
                  <a:tcPr marL="9409" marR="9409" marT="9409" marB="0" anchor="b"/>
                </a:tc>
                <a:tc>
                  <a:txBody>
                    <a:bodyPr/>
                    <a:lstStyle/>
                    <a:p>
                      <a:pPr algn="l" fontAlgn="b"/>
                      <a:r>
                        <a:rPr lang="en-US" sz="1100" u="none" strike="noStrike" dirty="0">
                          <a:effectLst/>
                        </a:rPr>
                        <a:t>social </a:t>
                      </a:r>
                      <a:endParaRPr lang="en-US" sz="1100" b="0" i="0" u="none" strike="noStrike" dirty="0">
                        <a:effectLst/>
                        <a:latin typeface="Arial"/>
                      </a:endParaRPr>
                    </a:p>
                  </a:txBody>
                  <a:tcPr marL="9409" marR="9409" marT="9409" marB="0" anchor="b"/>
                </a:tc>
                <a:extLst>
                  <a:ext uri="{0D108BD9-81ED-4DB2-BD59-A6C34878D82A}">
                    <a16:rowId xmlns:a16="http://schemas.microsoft.com/office/drawing/2014/main" val="10000"/>
                  </a:ext>
                </a:extLst>
              </a:tr>
              <a:tr h="522986">
                <a:tc>
                  <a:txBody>
                    <a:bodyPr/>
                    <a:lstStyle/>
                    <a:p>
                      <a:pPr algn="r" fontAlgn="b"/>
                      <a:r>
                        <a:rPr lang="en-US" sz="1100" u="none" strike="noStrike">
                          <a:effectLst/>
                        </a:rPr>
                        <a:t>15</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Jessica</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Stone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jstonee@printfriendly.com</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Female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252 478 771</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drivers license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numero d'assurance social</a:t>
                      </a:r>
                      <a:endParaRPr lang="en-US" sz="1100" b="0" i="0" u="none" strike="noStrike">
                        <a:effectLst/>
                        <a:latin typeface="Arial"/>
                      </a:endParaRPr>
                    </a:p>
                  </a:txBody>
                  <a:tcPr marL="9409" marR="9409" marT="9409" marB="0" anchor="b"/>
                </a:tc>
                <a:extLst>
                  <a:ext uri="{0D108BD9-81ED-4DB2-BD59-A6C34878D82A}">
                    <a16:rowId xmlns:a16="http://schemas.microsoft.com/office/drawing/2014/main" val="10001"/>
                  </a:ext>
                </a:extLst>
              </a:tr>
              <a:tr h="522986">
                <a:tc>
                  <a:txBody>
                    <a:bodyPr/>
                    <a:lstStyle/>
                    <a:p>
                      <a:pPr algn="r" fontAlgn="b"/>
                      <a:r>
                        <a:rPr lang="en-US" sz="1100" u="none" strike="noStrike">
                          <a:effectLst/>
                        </a:rPr>
                        <a:t>16</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Kevin</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Gilbert</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kgilbertf@ucoz.com</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160 336 798</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driver's licence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national identification number</a:t>
                      </a:r>
                      <a:endParaRPr lang="en-US" sz="1100" b="0" i="0" u="none" strike="noStrike">
                        <a:effectLst/>
                        <a:latin typeface="Arial"/>
                      </a:endParaRPr>
                    </a:p>
                  </a:txBody>
                  <a:tcPr marL="9409" marR="9409" marT="9409" marB="0" anchor="b"/>
                </a:tc>
                <a:extLst>
                  <a:ext uri="{0D108BD9-81ED-4DB2-BD59-A6C34878D82A}">
                    <a16:rowId xmlns:a16="http://schemas.microsoft.com/office/drawing/2014/main" val="10002"/>
                  </a:ext>
                </a:extLst>
              </a:tr>
              <a:tr h="522986">
                <a:tc>
                  <a:txBody>
                    <a:bodyPr/>
                    <a:lstStyle/>
                    <a:p>
                      <a:pPr algn="r" fontAlgn="b"/>
                      <a:r>
                        <a:rPr lang="en-US" sz="1100" u="none" strike="noStrike">
                          <a:effectLst/>
                        </a:rPr>
                        <a:t>17</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Diana</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Perez</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dperezg@smh.com.au</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Female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515 825 446</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drivers licence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national id</a:t>
                      </a:r>
                      <a:endParaRPr lang="en-US" sz="1100" b="0" i="0" u="none" strike="noStrike">
                        <a:effectLst/>
                        <a:latin typeface="Arial"/>
                      </a:endParaRPr>
                    </a:p>
                  </a:txBody>
                  <a:tcPr marL="9409" marR="9409" marT="9409" marB="0" anchor="b"/>
                </a:tc>
                <a:extLst>
                  <a:ext uri="{0D108BD9-81ED-4DB2-BD59-A6C34878D82A}">
                    <a16:rowId xmlns:a16="http://schemas.microsoft.com/office/drawing/2014/main" val="10003"/>
                  </a:ext>
                </a:extLst>
              </a:tr>
              <a:tr h="271239">
                <a:tc>
                  <a:txBody>
                    <a:bodyPr/>
                    <a:lstStyle/>
                    <a:p>
                      <a:pPr algn="r" fontAlgn="b"/>
                      <a:r>
                        <a:rPr lang="en-US" sz="1100" u="none" strike="noStrike">
                          <a:effectLst/>
                        </a:rPr>
                        <a:t>18</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Russell</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Sims</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rsimsh@yandex.ru</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164 466 740</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DOB</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sin#</a:t>
                      </a:r>
                      <a:endParaRPr lang="en-US" sz="1100" b="0" i="0" u="none" strike="noStrike">
                        <a:effectLst/>
                        <a:latin typeface="Arial"/>
                      </a:endParaRPr>
                    </a:p>
                  </a:txBody>
                  <a:tcPr marL="9409" marR="9409" marT="9409" marB="0" anchor="b"/>
                </a:tc>
                <a:extLst>
                  <a:ext uri="{0D108BD9-81ED-4DB2-BD59-A6C34878D82A}">
                    <a16:rowId xmlns:a16="http://schemas.microsoft.com/office/drawing/2014/main" val="10004"/>
                  </a:ext>
                </a:extLst>
              </a:tr>
              <a:tr h="271239">
                <a:tc>
                  <a:txBody>
                    <a:bodyPr/>
                    <a:lstStyle/>
                    <a:p>
                      <a:pPr algn="r" fontAlgn="b"/>
                      <a:r>
                        <a:rPr lang="en-US" sz="1100" u="none" strike="noStrike">
                          <a:effectLst/>
                        </a:rPr>
                        <a:t>19</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Sandra</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Baker</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sbakeri@ft.com</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Female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610 260 119</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Birthdate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soc ins</a:t>
                      </a:r>
                      <a:endParaRPr lang="en-US" sz="1100" b="0" i="0" u="none" strike="noStrike">
                        <a:effectLst/>
                        <a:latin typeface="Arial"/>
                      </a:endParaRPr>
                    </a:p>
                  </a:txBody>
                  <a:tcPr marL="9409" marR="9409" marT="9409" marB="0" anchor="b"/>
                </a:tc>
                <a:extLst>
                  <a:ext uri="{0D108BD9-81ED-4DB2-BD59-A6C34878D82A}">
                    <a16:rowId xmlns:a16="http://schemas.microsoft.com/office/drawing/2014/main" val="10005"/>
                  </a:ext>
                </a:extLst>
              </a:tr>
              <a:tr h="271239">
                <a:tc>
                  <a:txBody>
                    <a:bodyPr/>
                    <a:lstStyle/>
                    <a:p>
                      <a:pPr algn="r" fontAlgn="b"/>
                      <a:r>
                        <a:rPr lang="en-US" sz="1100" u="none" strike="noStrike">
                          <a:effectLst/>
                        </a:rPr>
                        <a:t>20</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Ernest</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Campbell</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ecampbellj@amazon.co.uk</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Male</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082 319 104</a:t>
                      </a:r>
                      <a:endParaRPr lang="en-US" sz="1100" b="0" i="0" u="none" strike="noStrike">
                        <a:effectLst/>
                        <a:latin typeface="Arial"/>
                      </a:endParaRPr>
                    </a:p>
                  </a:txBody>
                  <a:tcPr marL="9409" marR="9409" marT="9409" marB="0" anchor="b"/>
                </a:tc>
                <a:tc>
                  <a:txBody>
                    <a:bodyPr/>
                    <a:lstStyle/>
                    <a:p>
                      <a:pPr algn="l" fontAlgn="b"/>
                      <a:r>
                        <a:rPr lang="en-US" sz="1100" u="none" strike="noStrike">
                          <a:effectLst/>
                        </a:rPr>
                        <a:t>Birthday</a:t>
                      </a:r>
                      <a:endParaRPr lang="en-US" sz="1100" b="0" i="0" u="none" strike="noStrike">
                        <a:effectLst/>
                        <a:latin typeface="Arial"/>
                      </a:endParaRPr>
                    </a:p>
                  </a:txBody>
                  <a:tcPr marL="9409" marR="9409" marT="9409" marB="0" anchor="b"/>
                </a:tc>
                <a:tc>
                  <a:txBody>
                    <a:bodyPr/>
                    <a:lstStyle/>
                    <a:p>
                      <a:pPr algn="l" fontAlgn="b"/>
                      <a:r>
                        <a:rPr lang="en-US" sz="1100" u="none" strike="noStrike" dirty="0">
                          <a:effectLst/>
                        </a:rPr>
                        <a:t>social ins</a:t>
                      </a:r>
                      <a:endParaRPr lang="en-US" sz="1100" b="0" i="0" u="none" strike="noStrike" dirty="0">
                        <a:effectLst/>
                        <a:latin typeface="Arial"/>
                      </a:endParaRPr>
                    </a:p>
                  </a:txBody>
                  <a:tcPr marL="9409" marR="9409" marT="9409" marB="0" anchor="b"/>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409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578</Words>
  <Application>Microsoft Office PowerPoint</Application>
  <PresentationFormat>On-screen Show (4:3)</PresentationFormat>
  <Paragraphs>115</Paragraphs>
  <Slides>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PowerPoint Presentation</vt:lpstr>
      <vt:lpstr>PowerPoint Presentation</vt:lpstr>
      <vt:lpstr>PowerPoint Presentation</vt:lpstr>
    </vt:vector>
  </TitlesOfParts>
  <Company>Manulife Financial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JH</dc:creator>
  <cp:lastModifiedBy>Ashish Kalra</cp:lastModifiedBy>
  <cp:revision>2</cp:revision>
  <dcterms:created xsi:type="dcterms:W3CDTF">2017-06-29T16:27:11Z</dcterms:created>
  <dcterms:modified xsi:type="dcterms:W3CDTF">2018-03-08T18:22:44Z</dcterms:modified>
</cp:coreProperties>
</file>